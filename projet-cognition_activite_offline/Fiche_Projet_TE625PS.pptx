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 id="261" r:id="rId3"/>
    <p:sldId id="262" r:id="rId4"/>
    <p:sldId id="263" r:id="rId5"/>
    <p:sldId id="264" r:id="rId6"/>
    <p:sldId id="265"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9" autoAdjust="0"/>
    <p:restoredTop sz="97003"/>
  </p:normalViewPr>
  <p:slideViewPr>
    <p:cSldViewPr snapToGrid="0" snapToObjects="1">
      <p:cViewPr varScale="1">
        <p:scale>
          <a:sx n="45" d="100"/>
          <a:sy n="45" d="100"/>
        </p:scale>
        <p:origin x="636"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50895-5624-3C4F-A562-CB7F2B5CF4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2D283A1F-5803-3242-8210-F5D991D539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56A15049-BD94-C64D-82F6-F568CD8EEB5E}"/>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5" name="Footer Placeholder 4">
            <a:extLst>
              <a:ext uri="{FF2B5EF4-FFF2-40B4-BE49-F238E27FC236}">
                <a16:creationId xmlns:a16="http://schemas.microsoft.com/office/drawing/2014/main" id="{C7390388-5FA4-064D-8E50-D1B42FE8387C}"/>
              </a:ext>
            </a:extLst>
          </p:cNvPr>
          <p:cNvSpPr>
            <a:spLocks noGrp="1"/>
          </p:cNvSpPr>
          <p:nvPr>
            <p:ph type="ftr" sz="quarter" idx="11"/>
          </p:nvPr>
        </p:nvSpPr>
        <p:spPr/>
        <p:txBody>
          <a:bodyPr/>
          <a:lstStyle/>
          <a:p>
            <a:endParaRPr lang="fr-FR" dirty="0"/>
          </a:p>
        </p:txBody>
      </p:sp>
      <p:sp>
        <p:nvSpPr>
          <p:cNvPr id="6" name="Slide Number Placeholder 5">
            <a:extLst>
              <a:ext uri="{FF2B5EF4-FFF2-40B4-BE49-F238E27FC236}">
                <a16:creationId xmlns:a16="http://schemas.microsoft.com/office/drawing/2014/main" id="{55EFF951-D573-2D47-B439-2219394801AE}"/>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818381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7FB07-2D41-DD4E-8D74-081CEB5BEB3B}"/>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62ECFA75-BA79-AE4E-AF68-C26A6C854A7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2F25FF4E-03B6-FF4D-A5CF-D49985A7147E}"/>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5" name="Footer Placeholder 4">
            <a:extLst>
              <a:ext uri="{FF2B5EF4-FFF2-40B4-BE49-F238E27FC236}">
                <a16:creationId xmlns:a16="http://schemas.microsoft.com/office/drawing/2014/main" id="{8C137333-C9BE-9645-A017-D65E32B320B5}"/>
              </a:ext>
            </a:extLst>
          </p:cNvPr>
          <p:cNvSpPr>
            <a:spLocks noGrp="1"/>
          </p:cNvSpPr>
          <p:nvPr>
            <p:ph type="ftr" sz="quarter" idx="11"/>
          </p:nvPr>
        </p:nvSpPr>
        <p:spPr/>
        <p:txBody>
          <a:bodyPr/>
          <a:lstStyle/>
          <a:p>
            <a:endParaRPr lang="fr-FR" dirty="0"/>
          </a:p>
        </p:txBody>
      </p:sp>
      <p:sp>
        <p:nvSpPr>
          <p:cNvPr id="6" name="Slide Number Placeholder 5">
            <a:extLst>
              <a:ext uri="{FF2B5EF4-FFF2-40B4-BE49-F238E27FC236}">
                <a16:creationId xmlns:a16="http://schemas.microsoft.com/office/drawing/2014/main" id="{4261407B-D39B-0B45-A3B0-297333686325}"/>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332124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C0E93-DCC3-9F49-A5A8-D333200D4F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8591C590-C5D0-9D47-9A75-9E1020C73F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EDCDA75-795D-E446-897D-1F5514EA1862}"/>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5" name="Footer Placeholder 4">
            <a:extLst>
              <a:ext uri="{FF2B5EF4-FFF2-40B4-BE49-F238E27FC236}">
                <a16:creationId xmlns:a16="http://schemas.microsoft.com/office/drawing/2014/main" id="{284A49F8-4E51-3E42-B80A-A4C71D544BBB}"/>
              </a:ext>
            </a:extLst>
          </p:cNvPr>
          <p:cNvSpPr>
            <a:spLocks noGrp="1"/>
          </p:cNvSpPr>
          <p:nvPr>
            <p:ph type="ftr" sz="quarter" idx="11"/>
          </p:nvPr>
        </p:nvSpPr>
        <p:spPr/>
        <p:txBody>
          <a:bodyPr/>
          <a:lstStyle/>
          <a:p>
            <a:endParaRPr lang="fr-FR" dirty="0"/>
          </a:p>
        </p:txBody>
      </p:sp>
      <p:sp>
        <p:nvSpPr>
          <p:cNvPr id="6" name="Slide Number Placeholder 5">
            <a:extLst>
              <a:ext uri="{FF2B5EF4-FFF2-40B4-BE49-F238E27FC236}">
                <a16:creationId xmlns:a16="http://schemas.microsoft.com/office/drawing/2014/main" id="{67209BEE-AEDD-494B-9D7F-92B797E76246}"/>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91444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C1CC8-AEC5-E943-8CD7-FF9522970B69}"/>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7CE589F6-5655-274B-84EE-CB0D4FEC393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A79B28A9-EB40-1045-89EF-F03699F92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CDB70564-9011-1348-91AC-3AA98680009D}"/>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6" name="Footer Placeholder 5">
            <a:extLst>
              <a:ext uri="{FF2B5EF4-FFF2-40B4-BE49-F238E27FC236}">
                <a16:creationId xmlns:a16="http://schemas.microsoft.com/office/drawing/2014/main" id="{795D5FA9-C9D6-0B42-B836-5650BC197CC6}"/>
              </a:ext>
            </a:extLst>
          </p:cNvPr>
          <p:cNvSpPr>
            <a:spLocks noGrp="1"/>
          </p:cNvSpPr>
          <p:nvPr>
            <p:ph type="ftr" sz="quarter" idx="11"/>
          </p:nvPr>
        </p:nvSpPr>
        <p:spPr/>
        <p:txBody>
          <a:bodyPr/>
          <a:lstStyle/>
          <a:p>
            <a:endParaRPr lang="fr-FR" dirty="0"/>
          </a:p>
        </p:txBody>
      </p:sp>
      <p:sp>
        <p:nvSpPr>
          <p:cNvPr id="7" name="Slide Number Placeholder 6">
            <a:extLst>
              <a:ext uri="{FF2B5EF4-FFF2-40B4-BE49-F238E27FC236}">
                <a16:creationId xmlns:a16="http://schemas.microsoft.com/office/drawing/2014/main" id="{E20A7A72-DE7C-9144-89A8-A9F02DF92143}"/>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3460183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9357F-618E-BB4F-9118-A8FD16449982}"/>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A6946209-D4DB-EB4E-915C-A43DAC82E1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ACDB5CA-A86C-A748-8301-8EAEB852347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13EF4620-099F-8043-B849-6A790A8A1A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3E9676A-5A74-7640-9202-0CC608568AC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D3562142-B60C-D747-9A59-167C58EE84F4}"/>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8" name="Footer Placeholder 7">
            <a:extLst>
              <a:ext uri="{FF2B5EF4-FFF2-40B4-BE49-F238E27FC236}">
                <a16:creationId xmlns:a16="http://schemas.microsoft.com/office/drawing/2014/main" id="{F0C17ECA-B741-5646-BDE6-320076071CCD}"/>
              </a:ext>
            </a:extLst>
          </p:cNvPr>
          <p:cNvSpPr>
            <a:spLocks noGrp="1"/>
          </p:cNvSpPr>
          <p:nvPr>
            <p:ph type="ftr" sz="quarter" idx="11"/>
          </p:nvPr>
        </p:nvSpPr>
        <p:spPr/>
        <p:txBody>
          <a:bodyPr/>
          <a:lstStyle/>
          <a:p>
            <a:endParaRPr lang="fr-FR" dirty="0"/>
          </a:p>
        </p:txBody>
      </p:sp>
      <p:sp>
        <p:nvSpPr>
          <p:cNvPr id="9" name="Slide Number Placeholder 8">
            <a:extLst>
              <a:ext uri="{FF2B5EF4-FFF2-40B4-BE49-F238E27FC236}">
                <a16:creationId xmlns:a16="http://schemas.microsoft.com/office/drawing/2014/main" id="{80F3E456-A65F-6844-B891-FC7C76803903}"/>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3729148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016A6-8BB0-264F-95BE-7AAF3BCA2FF0}"/>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165A3CD4-F2B4-F941-B61D-AB05C64D01AB}"/>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4" name="Footer Placeholder 3">
            <a:extLst>
              <a:ext uri="{FF2B5EF4-FFF2-40B4-BE49-F238E27FC236}">
                <a16:creationId xmlns:a16="http://schemas.microsoft.com/office/drawing/2014/main" id="{B8D3D338-478F-AC47-966F-DE1F34652C89}"/>
              </a:ext>
            </a:extLst>
          </p:cNvPr>
          <p:cNvSpPr>
            <a:spLocks noGrp="1"/>
          </p:cNvSpPr>
          <p:nvPr>
            <p:ph type="ftr" sz="quarter" idx="11"/>
          </p:nvPr>
        </p:nvSpPr>
        <p:spPr/>
        <p:txBody>
          <a:bodyPr/>
          <a:lstStyle/>
          <a:p>
            <a:endParaRPr lang="fr-FR" dirty="0"/>
          </a:p>
        </p:txBody>
      </p:sp>
      <p:sp>
        <p:nvSpPr>
          <p:cNvPr id="5" name="Slide Number Placeholder 4">
            <a:extLst>
              <a:ext uri="{FF2B5EF4-FFF2-40B4-BE49-F238E27FC236}">
                <a16:creationId xmlns:a16="http://schemas.microsoft.com/office/drawing/2014/main" id="{4C120FCB-2675-744F-83B2-D97416E294A7}"/>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1396082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FD638B-3972-BD4E-9247-D048C16D6975}"/>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3" name="Footer Placeholder 2">
            <a:extLst>
              <a:ext uri="{FF2B5EF4-FFF2-40B4-BE49-F238E27FC236}">
                <a16:creationId xmlns:a16="http://schemas.microsoft.com/office/drawing/2014/main" id="{C3117F61-854B-324F-A02D-672F6C7835B9}"/>
              </a:ext>
            </a:extLst>
          </p:cNvPr>
          <p:cNvSpPr>
            <a:spLocks noGrp="1"/>
          </p:cNvSpPr>
          <p:nvPr>
            <p:ph type="ftr" sz="quarter" idx="11"/>
          </p:nvPr>
        </p:nvSpPr>
        <p:spPr/>
        <p:txBody>
          <a:bodyPr/>
          <a:lstStyle/>
          <a:p>
            <a:endParaRPr lang="fr-FR" dirty="0"/>
          </a:p>
        </p:txBody>
      </p:sp>
      <p:sp>
        <p:nvSpPr>
          <p:cNvPr id="4" name="Slide Number Placeholder 3">
            <a:extLst>
              <a:ext uri="{FF2B5EF4-FFF2-40B4-BE49-F238E27FC236}">
                <a16:creationId xmlns:a16="http://schemas.microsoft.com/office/drawing/2014/main" id="{79C43521-242F-8B49-BE78-261B2992A799}"/>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1640922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92F58-4B9F-CB4B-B4E9-3B0F5A610E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33E079ED-261E-CE41-AC3A-78F8270C11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E4BE6608-05BB-2946-AB3C-AF7ADF22E5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8473FFF-A97A-7B4D-9157-D8D8D376EF03}"/>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6" name="Footer Placeholder 5">
            <a:extLst>
              <a:ext uri="{FF2B5EF4-FFF2-40B4-BE49-F238E27FC236}">
                <a16:creationId xmlns:a16="http://schemas.microsoft.com/office/drawing/2014/main" id="{A0254699-849E-FE42-9A12-D4E055F2F129}"/>
              </a:ext>
            </a:extLst>
          </p:cNvPr>
          <p:cNvSpPr>
            <a:spLocks noGrp="1"/>
          </p:cNvSpPr>
          <p:nvPr>
            <p:ph type="ftr" sz="quarter" idx="11"/>
          </p:nvPr>
        </p:nvSpPr>
        <p:spPr/>
        <p:txBody>
          <a:bodyPr/>
          <a:lstStyle/>
          <a:p>
            <a:endParaRPr lang="fr-FR" dirty="0"/>
          </a:p>
        </p:txBody>
      </p:sp>
      <p:sp>
        <p:nvSpPr>
          <p:cNvPr id="7" name="Slide Number Placeholder 6">
            <a:extLst>
              <a:ext uri="{FF2B5EF4-FFF2-40B4-BE49-F238E27FC236}">
                <a16:creationId xmlns:a16="http://schemas.microsoft.com/office/drawing/2014/main" id="{76C721F6-8750-2742-8DC4-90486CC99B1D}"/>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2086084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EE8AB-14ED-8C44-A4FD-4AABB91F55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A4A770A3-306E-AE45-9D06-424D615404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Text Placeholder 3">
            <a:extLst>
              <a:ext uri="{FF2B5EF4-FFF2-40B4-BE49-F238E27FC236}">
                <a16:creationId xmlns:a16="http://schemas.microsoft.com/office/drawing/2014/main" id="{847624DC-7226-D54E-9ED7-01D496D3CB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F5E7692-BE67-5440-AACF-08C6A747B577}"/>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6" name="Footer Placeholder 5">
            <a:extLst>
              <a:ext uri="{FF2B5EF4-FFF2-40B4-BE49-F238E27FC236}">
                <a16:creationId xmlns:a16="http://schemas.microsoft.com/office/drawing/2014/main" id="{B601D054-496D-2C41-A891-1EB78F0DDA89}"/>
              </a:ext>
            </a:extLst>
          </p:cNvPr>
          <p:cNvSpPr>
            <a:spLocks noGrp="1"/>
          </p:cNvSpPr>
          <p:nvPr>
            <p:ph type="ftr" sz="quarter" idx="11"/>
          </p:nvPr>
        </p:nvSpPr>
        <p:spPr/>
        <p:txBody>
          <a:bodyPr/>
          <a:lstStyle/>
          <a:p>
            <a:endParaRPr lang="fr-FR" dirty="0"/>
          </a:p>
        </p:txBody>
      </p:sp>
      <p:sp>
        <p:nvSpPr>
          <p:cNvPr id="7" name="Slide Number Placeholder 6">
            <a:extLst>
              <a:ext uri="{FF2B5EF4-FFF2-40B4-BE49-F238E27FC236}">
                <a16:creationId xmlns:a16="http://schemas.microsoft.com/office/drawing/2014/main" id="{981C951A-7938-8544-A2E8-204FF274533D}"/>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3265925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97C13-0670-CD4A-92D6-CB89B33EBAF4}"/>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1C669437-2E8B-964B-938B-C10390E932C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8241D5AC-4256-984D-A6F1-43C02E7BDE34}"/>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5" name="Footer Placeholder 4">
            <a:extLst>
              <a:ext uri="{FF2B5EF4-FFF2-40B4-BE49-F238E27FC236}">
                <a16:creationId xmlns:a16="http://schemas.microsoft.com/office/drawing/2014/main" id="{CB3C0CA9-488A-AE4F-9065-6CD518F8A4F9}"/>
              </a:ext>
            </a:extLst>
          </p:cNvPr>
          <p:cNvSpPr>
            <a:spLocks noGrp="1"/>
          </p:cNvSpPr>
          <p:nvPr>
            <p:ph type="ftr" sz="quarter" idx="11"/>
          </p:nvPr>
        </p:nvSpPr>
        <p:spPr/>
        <p:txBody>
          <a:bodyPr/>
          <a:lstStyle/>
          <a:p>
            <a:endParaRPr lang="fr-FR" dirty="0"/>
          </a:p>
        </p:txBody>
      </p:sp>
      <p:sp>
        <p:nvSpPr>
          <p:cNvPr id="6" name="Slide Number Placeholder 5">
            <a:extLst>
              <a:ext uri="{FF2B5EF4-FFF2-40B4-BE49-F238E27FC236}">
                <a16:creationId xmlns:a16="http://schemas.microsoft.com/office/drawing/2014/main" id="{7BCD0495-29E7-8443-B548-AACF46F9933E}"/>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130250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7DFA8E-90AA-1046-B8B7-7C9852045A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05B99AE2-FB6D-4F4F-9D94-2B0E6CA71BD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FB81B3E4-48E9-A243-A829-2984863353B5}"/>
              </a:ext>
            </a:extLst>
          </p:cNvPr>
          <p:cNvSpPr>
            <a:spLocks noGrp="1"/>
          </p:cNvSpPr>
          <p:nvPr>
            <p:ph type="dt" sz="half" idx="10"/>
          </p:nvPr>
        </p:nvSpPr>
        <p:spPr/>
        <p:txBody>
          <a:bodyPr/>
          <a:lstStyle/>
          <a:p>
            <a:fld id="{C3B7BECA-F21C-8F41-BA30-36B2786F78D6}" type="datetimeFigureOut">
              <a:rPr lang="fr-FR" smtClean="0"/>
              <a:t>11/04/2026</a:t>
            </a:fld>
            <a:endParaRPr lang="fr-FR" dirty="0"/>
          </a:p>
        </p:txBody>
      </p:sp>
      <p:sp>
        <p:nvSpPr>
          <p:cNvPr id="5" name="Footer Placeholder 4">
            <a:extLst>
              <a:ext uri="{FF2B5EF4-FFF2-40B4-BE49-F238E27FC236}">
                <a16:creationId xmlns:a16="http://schemas.microsoft.com/office/drawing/2014/main" id="{C9FD360E-BAB1-D540-AB54-A24C3ACA6C7F}"/>
              </a:ext>
            </a:extLst>
          </p:cNvPr>
          <p:cNvSpPr>
            <a:spLocks noGrp="1"/>
          </p:cNvSpPr>
          <p:nvPr>
            <p:ph type="ftr" sz="quarter" idx="11"/>
          </p:nvPr>
        </p:nvSpPr>
        <p:spPr/>
        <p:txBody>
          <a:bodyPr/>
          <a:lstStyle/>
          <a:p>
            <a:endParaRPr lang="fr-FR" dirty="0"/>
          </a:p>
        </p:txBody>
      </p:sp>
      <p:sp>
        <p:nvSpPr>
          <p:cNvPr id="6" name="Slide Number Placeholder 5">
            <a:extLst>
              <a:ext uri="{FF2B5EF4-FFF2-40B4-BE49-F238E27FC236}">
                <a16:creationId xmlns:a16="http://schemas.microsoft.com/office/drawing/2014/main" id="{17EE37CC-DFC3-664A-AAEB-E640FD4148EB}"/>
              </a:ext>
            </a:extLst>
          </p:cNvPr>
          <p:cNvSpPr>
            <a:spLocks noGrp="1"/>
          </p:cNvSpPr>
          <p:nvPr>
            <p:ph type="sldNum" sz="quarter" idx="12"/>
          </p:nvPr>
        </p:nvSpPr>
        <p:spPr/>
        <p:txBody>
          <a:bodyPr/>
          <a:lstStyle/>
          <a:p>
            <a:fld id="{2203E217-40D7-D448-8C01-18A9FB36306F}" type="slidenum">
              <a:rPr lang="fr-FR" smtClean="0"/>
              <a:t>‹N°›</a:t>
            </a:fld>
            <a:endParaRPr lang="fr-FR" dirty="0"/>
          </a:p>
        </p:txBody>
      </p:sp>
    </p:spTree>
    <p:extLst>
      <p:ext uri="{BB962C8B-B14F-4D97-AF65-F5344CB8AC3E}">
        <p14:creationId xmlns:p14="http://schemas.microsoft.com/office/powerpoint/2010/main" val="1431686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BA5DEA-62E2-0444-A769-7BE3B9B774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6A200FD0-93AC-5643-AB27-280F3037C4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D51172AD-2406-0748-92E2-259B6232C5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B7BECA-F21C-8F41-BA30-36B2786F78D6}" type="datetimeFigureOut">
              <a:rPr lang="fr-FR" smtClean="0"/>
              <a:t>11/04/2026</a:t>
            </a:fld>
            <a:endParaRPr lang="fr-FR" dirty="0"/>
          </a:p>
        </p:txBody>
      </p:sp>
      <p:sp>
        <p:nvSpPr>
          <p:cNvPr id="5" name="Footer Placeholder 4">
            <a:extLst>
              <a:ext uri="{FF2B5EF4-FFF2-40B4-BE49-F238E27FC236}">
                <a16:creationId xmlns:a16="http://schemas.microsoft.com/office/drawing/2014/main" id="{A8CAD7D7-E0AA-E347-B1AC-1FF05F8602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Slide Number Placeholder 5">
            <a:extLst>
              <a:ext uri="{FF2B5EF4-FFF2-40B4-BE49-F238E27FC236}">
                <a16:creationId xmlns:a16="http://schemas.microsoft.com/office/drawing/2014/main" id="{3520BB1B-096C-3E4B-93AE-F484E26645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03E217-40D7-D448-8C01-18A9FB36306F}" type="slidenum">
              <a:rPr lang="fr-FR" smtClean="0"/>
              <a:t>‹N°›</a:t>
            </a:fld>
            <a:endParaRPr lang="fr-FR" dirty="0"/>
          </a:p>
        </p:txBody>
      </p:sp>
    </p:spTree>
    <p:extLst>
      <p:ext uri="{BB962C8B-B14F-4D97-AF65-F5344CB8AC3E}">
        <p14:creationId xmlns:p14="http://schemas.microsoft.com/office/powerpoint/2010/main" val="3691452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8A29B-2142-E349-AE99-0BA25F0764A7}"/>
              </a:ext>
            </a:extLst>
          </p:cNvPr>
          <p:cNvSpPr>
            <a:spLocks noGrp="1"/>
          </p:cNvSpPr>
          <p:nvPr>
            <p:ph type="title"/>
          </p:nvPr>
        </p:nvSpPr>
        <p:spPr/>
        <p:txBody>
          <a:bodyPr/>
          <a:lstStyle/>
          <a:p>
            <a:r>
              <a:rPr lang="fr-FR" b="1" dirty="0"/>
              <a:t>Fiche Projet  </a:t>
            </a:r>
          </a:p>
        </p:txBody>
      </p:sp>
      <p:sp>
        <p:nvSpPr>
          <p:cNvPr id="3" name="Content Placeholder 2">
            <a:extLst>
              <a:ext uri="{FF2B5EF4-FFF2-40B4-BE49-F238E27FC236}">
                <a16:creationId xmlns:a16="http://schemas.microsoft.com/office/drawing/2014/main" id="{EE1EEBD4-784C-0B41-9F48-9746153E149D}"/>
              </a:ext>
            </a:extLst>
          </p:cNvPr>
          <p:cNvSpPr>
            <a:spLocks noGrp="1"/>
          </p:cNvSpPr>
          <p:nvPr>
            <p:ph idx="1"/>
          </p:nvPr>
        </p:nvSpPr>
        <p:spPr>
          <a:xfrm>
            <a:off x="838200" y="2886977"/>
            <a:ext cx="10515600" cy="1521424"/>
          </a:xfrm>
        </p:spPr>
        <p:txBody>
          <a:bodyPr/>
          <a:lstStyle/>
          <a:p>
            <a:r>
              <a:rPr lang="fr-FR" dirty="0"/>
              <a:t>Titre :  Activité offline un frein à l’apprentissage ? Adaptation d’Experts et de novices à un clavier remappé</a:t>
            </a:r>
          </a:p>
          <a:p>
            <a:r>
              <a:rPr lang="fr-FR" dirty="0"/>
              <a:t>Acronyme : AOFA</a:t>
            </a:r>
          </a:p>
        </p:txBody>
      </p:sp>
      <p:sp>
        <p:nvSpPr>
          <p:cNvPr id="4" name="TextBox 3">
            <a:extLst>
              <a:ext uri="{FF2B5EF4-FFF2-40B4-BE49-F238E27FC236}">
                <a16:creationId xmlns:a16="http://schemas.microsoft.com/office/drawing/2014/main" id="{DB06B618-1305-6C46-8C6C-484D03CC2259}"/>
              </a:ext>
            </a:extLst>
          </p:cNvPr>
          <p:cNvSpPr txBox="1"/>
          <p:nvPr/>
        </p:nvSpPr>
        <p:spPr>
          <a:xfrm>
            <a:off x="850900" y="1652979"/>
            <a:ext cx="1714500" cy="646331"/>
          </a:xfrm>
          <a:prstGeom prst="rect">
            <a:avLst/>
          </a:prstGeom>
          <a:noFill/>
        </p:spPr>
        <p:txBody>
          <a:bodyPr wrap="square" rtlCol="0">
            <a:spAutoFit/>
          </a:bodyPr>
          <a:lstStyle/>
          <a:p>
            <a:r>
              <a:rPr lang="fr-FR" dirty="0"/>
              <a:t>NOM : BOCCACCIO</a:t>
            </a:r>
          </a:p>
        </p:txBody>
      </p:sp>
      <p:sp>
        <p:nvSpPr>
          <p:cNvPr id="5" name="TextBox 4">
            <a:extLst>
              <a:ext uri="{FF2B5EF4-FFF2-40B4-BE49-F238E27FC236}">
                <a16:creationId xmlns:a16="http://schemas.microsoft.com/office/drawing/2014/main" id="{BCB8DFFA-2AA7-664B-AD9E-B2D3641B51AF}"/>
              </a:ext>
            </a:extLst>
          </p:cNvPr>
          <p:cNvSpPr txBox="1"/>
          <p:nvPr/>
        </p:nvSpPr>
        <p:spPr>
          <a:xfrm>
            <a:off x="3716547" y="1592965"/>
            <a:ext cx="1216324" cy="646331"/>
          </a:xfrm>
          <a:prstGeom prst="rect">
            <a:avLst/>
          </a:prstGeom>
          <a:noFill/>
        </p:spPr>
        <p:txBody>
          <a:bodyPr wrap="square" rtlCol="0">
            <a:spAutoFit/>
          </a:bodyPr>
          <a:lstStyle/>
          <a:p>
            <a:r>
              <a:rPr lang="fr-FR" dirty="0"/>
              <a:t>Prénom : Mélissa</a:t>
            </a:r>
          </a:p>
        </p:txBody>
      </p:sp>
      <p:pic>
        <p:nvPicPr>
          <p:cNvPr id="8" name="Picture 7">
            <a:extLst>
              <a:ext uri="{FF2B5EF4-FFF2-40B4-BE49-F238E27FC236}">
                <a16:creationId xmlns:a16="http://schemas.microsoft.com/office/drawing/2014/main" id="{449F21F1-EC34-590B-FF6C-15EC2C2F0BD2}"/>
              </a:ext>
            </a:extLst>
          </p:cNvPr>
          <p:cNvPicPr>
            <a:picLocks noChangeAspect="1"/>
          </p:cNvPicPr>
          <p:nvPr/>
        </p:nvPicPr>
        <p:blipFill>
          <a:blip r:embed="rId2"/>
          <a:stretch>
            <a:fillRect/>
          </a:stretch>
        </p:blipFill>
        <p:spPr>
          <a:xfrm>
            <a:off x="10273594" y="215201"/>
            <a:ext cx="1492939" cy="1060444"/>
          </a:xfrm>
          <a:prstGeom prst="rect">
            <a:avLst/>
          </a:prstGeom>
        </p:spPr>
      </p:pic>
    </p:spTree>
    <p:extLst>
      <p:ext uri="{BB962C8B-B14F-4D97-AF65-F5344CB8AC3E}">
        <p14:creationId xmlns:p14="http://schemas.microsoft.com/office/powerpoint/2010/main" val="3813918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EE74-8956-7047-8D78-C4F4BED561C1}"/>
              </a:ext>
            </a:extLst>
          </p:cNvPr>
          <p:cNvSpPr>
            <a:spLocks noGrp="1"/>
          </p:cNvSpPr>
          <p:nvPr>
            <p:ph type="title"/>
          </p:nvPr>
        </p:nvSpPr>
        <p:spPr/>
        <p:txBody>
          <a:bodyPr/>
          <a:lstStyle/>
          <a:p>
            <a:r>
              <a:rPr lang="fr-FR" b="1" dirty="0"/>
              <a:t>Contextualisation et problématisation :</a:t>
            </a:r>
          </a:p>
        </p:txBody>
      </p:sp>
      <p:sp>
        <p:nvSpPr>
          <p:cNvPr id="3" name="Content Placeholder 2">
            <a:extLst>
              <a:ext uri="{FF2B5EF4-FFF2-40B4-BE49-F238E27FC236}">
                <a16:creationId xmlns:a16="http://schemas.microsoft.com/office/drawing/2014/main" id="{2E0C9E7E-E11A-EF42-9443-3CF16A0446C1}"/>
              </a:ext>
            </a:extLst>
          </p:cNvPr>
          <p:cNvSpPr>
            <a:spLocks noGrp="1"/>
          </p:cNvSpPr>
          <p:nvPr>
            <p:ph idx="1"/>
          </p:nvPr>
        </p:nvSpPr>
        <p:spPr/>
        <p:txBody>
          <a:bodyPr>
            <a:normAutofit lnSpcReduction="10000"/>
          </a:bodyPr>
          <a:lstStyle/>
          <a:p>
            <a:pPr marL="0" indent="0">
              <a:buNone/>
            </a:pPr>
            <a:r>
              <a:rPr lang="fr-FR" dirty="0"/>
              <a:t>Aujourd’hui, l’utilisation du clavier d’ordinateur est omniprésente dans nos sociétés, et il est donc facile de trouver des experts (étudiants, informaticiens, employés de bureau, etc.). Cette expertise s’appuie à la fois sur des automatismes moteurs acquis par l’apprentissage (</a:t>
            </a:r>
            <a:r>
              <a:rPr lang="fr-FR" i="1" dirty="0"/>
              <a:t>motor learning</a:t>
            </a:r>
            <a:r>
              <a:rPr lang="fr-FR" dirty="0"/>
              <a:t>) et sur la consolidation cognitive de ces compétences réalisée hors de la pratique active (activité </a:t>
            </a:r>
            <a:r>
              <a:rPr lang="fr-FR" i="1" dirty="0"/>
              <a:t>offline</a:t>
            </a:r>
            <a:r>
              <a:rPr lang="fr-FR" dirty="0"/>
              <a:t>).</a:t>
            </a:r>
          </a:p>
          <a:p>
            <a:pPr marL="0" indent="0">
              <a:buNone/>
            </a:pPr>
            <a:r>
              <a:rPr lang="fr-FR" dirty="0"/>
              <a:t>La question porte sur le rôle de l’activité </a:t>
            </a:r>
            <a:r>
              <a:rPr lang="fr-FR" i="1" dirty="0"/>
              <a:t>offline</a:t>
            </a:r>
            <a:r>
              <a:rPr lang="fr-FR" dirty="0"/>
              <a:t> dans un nouvel apprentissage. Lorsqu’un individu expérimenté doit réapprendre sa tâche d’expertise de manière légèrement biaisée, apprendra-t-il plus facilement grâce à ses connaissances préalables, ou sera-t-il au contraire plus en difficulté en raison de ces acquis déjà ancrés ?</a:t>
            </a:r>
          </a:p>
        </p:txBody>
      </p:sp>
    </p:spTree>
    <p:extLst>
      <p:ext uri="{BB962C8B-B14F-4D97-AF65-F5344CB8AC3E}">
        <p14:creationId xmlns:p14="http://schemas.microsoft.com/office/powerpoint/2010/main" val="436737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DDC8A-C736-8347-8428-B7264A5DEEB6}"/>
              </a:ext>
            </a:extLst>
          </p:cNvPr>
          <p:cNvSpPr>
            <a:spLocks noGrp="1"/>
          </p:cNvSpPr>
          <p:nvPr>
            <p:ph type="title"/>
          </p:nvPr>
        </p:nvSpPr>
        <p:spPr/>
        <p:txBody>
          <a:bodyPr/>
          <a:lstStyle/>
          <a:p>
            <a:r>
              <a:rPr lang="fr-FR" b="1" dirty="0"/>
              <a:t>Etat de l’art (5 références) :</a:t>
            </a:r>
          </a:p>
        </p:txBody>
      </p:sp>
      <p:sp>
        <p:nvSpPr>
          <p:cNvPr id="3" name="Content Placeholder 2">
            <a:extLst>
              <a:ext uri="{FF2B5EF4-FFF2-40B4-BE49-F238E27FC236}">
                <a16:creationId xmlns:a16="http://schemas.microsoft.com/office/drawing/2014/main" id="{6C752AD5-3334-F947-AE50-1328FE1C1F43}"/>
              </a:ext>
            </a:extLst>
          </p:cNvPr>
          <p:cNvSpPr>
            <a:spLocks noGrp="1"/>
          </p:cNvSpPr>
          <p:nvPr>
            <p:ph idx="1"/>
          </p:nvPr>
        </p:nvSpPr>
        <p:spPr/>
        <p:txBody>
          <a:bodyPr>
            <a:normAutofit fontScale="62500" lnSpcReduction="20000"/>
          </a:bodyPr>
          <a:lstStyle/>
          <a:p>
            <a:r>
              <a:rPr lang="en-US" sz="3600" dirty="0"/>
              <a:t>Chase, W. G., &amp; Simon, H. A. (1973). Perception in chess. </a:t>
            </a:r>
            <a:r>
              <a:rPr lang="en-US" sz="3600" i="1" dirty="0"/>
              <a:t>Cognitive Psychology, 4</a:t>
            </a:r>
            <a:r>
              <a:rPr lang="en-US" sz="3600" dirty="0"/>
              <a:t>(1), 55–81. </a:t>
            </a:r>
          </a:p>
          <a:p>
            <a:r>
              <a:rPr lang="en-US" sz="3600" dirty="0"/>
              <a:t>Pezzulo, G., Barca, L., Bocconi, A. L., &amp; Borghi, A. M. (2010). When affordances climb into your mind: Advantages of motor simulation in a memory task performed by novice and expert rock climbers. </a:t>
            </a:r>
            <a:r>
              <a:rPr lang="en-US" sz="3600" i="1" dirty="0"/>
              <a:t>Brain and Cognition, 73</a:t>
            </a:r>
            <a:r>
              <a:rPr lang="en-US" sz="3600" dirty="0"/>
              <a:t>(1), 68–73. </a:t>
            </a:r>
          </a:p>
          <a:p>
            <a:r>
              <a:rPr lang="en-US" sz="3600" dirty="0"/>
              <a:t>Brown, R. M., &amp; </a:t>
            </a:r>
            <a:r>
              <a:rPr lang="en-US" sz="3600" dirty="0" err="1"/>
              <a:t>Penhune</a:t>
            </a:r>
            <a:r>
              <a:rPr lang="en-US" sz="3600" dirty="0"/>
              <a:t>, V. B. (2018). Efficacy of auditory versus motor learning for skilled and novice performers. </a:t>
            </a:r>
            <a:r>
              <a:rPr lang="en-US" sz="3600" i="1" dirty="0"/>
              <a:t>Journal of Cognitive Neuroscience, 30</a:t>
            </a:r>
            <a:r>
              <a:rPr lang="en-US" sz="3600" dirty="0"/>
              <a:t>(11), 1657–1682. </a:t>
            </a:r>
          </a:p>
          <a:p>
            <a:r>
              <a:rPr lang="en-US" sz="3600" dirty="0"/>
              <a:t>Norman, G. R., Monteiro, S. D., </a:t>
            </a:r>
            <a:r>
              <a:rPr lang="en-US" sz="3600" dirty="0" err="1"/>
              <a:t>Sherbino</a:t>
            </a:r>
            <a:r>
              <a:rPr lang="en-US" sz="3600" dirty="0"/>
              <a:t>, J., Ilgen, J. S., Schmidt, H. G., &amp; Mamede, S. (2017). The causes of errors in clinical reasoning: Cognitive biases, knowledge deficits, and dual process thinking. </a:t>
            </a:r>
            <a:r>
              <a:rPr lang="en-US" sz="3600" i="1" dirty="0"/>
              <a:t>Academic Medicine, 92</a:t>
            </a:r>
            <a:r>
              <a:rPr lang="en-US" sz="3600" dirty="0"/>
              <a:t>(1), 23–30. </a:t>
            </a:r>
          </a:p>
          <a:p>
            <a:r>
              <a:rPr lang="en-US" sz="3600" dirty="0"/>
              <a:t>Müller, H., &amp; Sternad, D. (2009). Motor learning: Changes in the structure of variability in a redundant task. In D. Sternad (Ed.), </a:t>
            </a:r>
            <a:r>
              <a:rPr lang="en-US" sz="3600" i="1" dirty="0"/>
              <a:t>Progress in motor control</a:t>
            </a:r>
            <a:r>
              <a:rPr lang="en-US" sz="3600" dirty="0"/>
              <a:t> (Vol. 629, pp. 439–456). </a:t>
            </a:r>
            <a:endParaRPr lang="fr-FR" sz="3300" dirty="0"/>
          </a:p>
          <a:p>
            <a:endParaRPr lang="fr-FR" sz="3300" dirty="0"/>
          </a:p>
          <a:p>
            <a:endParaRPr lang="en-US" sz="2400" dirty="0"/>
          </a:p>
          <a:p>
            <a:endParaRPr lang="fr-FR" dirty="0"/>
          </a:p>
          <a:p>
            <a:endParaRPr lang="fr-FR" dirty="0"/>
          </a:p>
          <a:p>
            <a:endParaRPr lang="fr-FR" dirty="0"/>
          </a:p>
        </p:txBody>
      </p:sp>
    </p:spTree>
    <p:extLst>
      <p:ext uri="{BB962C8B-B14F-4D97-AF65-F5344CB8AC3E}">
        <p14:creationId xmlns:p14="http://schemas.microsoft.com/office/powerpoint/2010/main" val="3960372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914FC-C976-7841-9A2C-3FB60AAA5A67}"/>
              </a:ext>
            </a:extLst>
          </p:cNvPr>
          <p:cNvSpPr>
            <a:spLocks noGrp="1"/>
          </p:cNvSpPr>
          <p:nvPr>
            <p:ph type="title"/>
          </p:nvPr>
        </p:nvSpPr>
        <p:spPr/>
        <p:txBody>
          <a:bodyPr/>
          <a:lstStyle/>
          <a:p>
            <a:r>
              <a:rPr lang="fr-FR" b="1" dirty="0"/>
              <a:t>Objectif du travail :</a:t>
            </a:r>
          </a:p>
        </p:txBody>
      </p:sp>
      <p:sp>
        <p:nvSpPr>
          <p:cNvPr id="3" name="Content Placeholder 2">
            <a:extLst>
              <a:ext uri="{FF2B5EF4-FFF2-40B4-BE49-F238E27FC236}">
                <a16:creationId xmlns:a16="http://schemas.microsoft.com/office/drawing/2014/main" id="{45B5CB53-E8C4-E04A-B23B-B8A22224A805}"/>
              </a:ext>
            </a:extLst>
          </p:cNvPr>
          <p:cNvSpPr>
            <a:spLocks noGrp="1"/>
          </p:cNvSpPr>
          <p:nvPr>
            <p:ph idx="1"/>
          </p:nvPr>
        </p:nvSpPr>
        <p:spPr/>
        <p:txBody>
          <a:bodyPr>
            <a:normAutofit lnSpcReduction="10000"/>
          </a:bodyPr>
          <a:lstStyle/>
          <a:p>
            <a:pPr marL="0" indent="0">
              <a:buNone/>
            </a:pPr>
            <a:r>
              <a:rPr lang="fr-FR" sz="2400" dirty="0"/>
              <a:t>L’objectif est donc de savoir si, chez des experts de la frappe au clavier, l’activité </a:t>
            </a:r>
            <a:r>
              <a:rPr lang="fr-FR" sz="2400" i="1" dirty="0"/>
              <a:t>offline</a:t>
            </a:r>
            <a:r>
              <a:rPr lang="fr-FR" sz="2400" dirty="0"/>
              <a:t> acquise tout au long de l’apprentissage constitue un frein ou un atout pour l’acquisition d’une nouvelle tâche dans le même domaine d’expertise. </a:t>
            </a:r>
          </a:p>
          <a:p>
            <a:pPr marL="0" indent="0">
              <a:buNone/>
            </a:pPr>
            <a:r>
              <a:rPr lang="fr-FR" sz="2400" dirty="0"/>
              <a:t>De cette manière, l’expérimentation a pour objectif de répondre au hypothèse :  </a:t>
            </a:r>
          </a:p>
          <a:p>
            <a:pPr>
              <a:buFontTx/>
              <a:buChar char="-"/>
            </a:pPr>
            <a:r>
              <a:rPr lang="fr-FR" sz="2400" dirty="0"/>
              <a:t>Les experts du clavier seront moins agiles par le clavier remappé que les novices, en raison de leurs automatismes moteurs fortement ancrés.</a:t>
            </a:r>
          </a:p>
          <a:p>
            <a:pPr>
              <a:buFontTx/>
              <a:buChar char="-"/>
            </a:pPr>
            <a:r>
              <a:rPr lang="fr-FR" sz="2400" dirty="0"/>
              <a:t>Les performances des participants devraient s’améliorer au fil des sessions, montrant un processus d’apprentissage et de consolidation des nouvelles associations entre touches et lettres.</a:t>
            </a:r>
          </a:p>
          <a:p>
            <a:pPr>
              <a:buFontTx/>
              <a:buChar char="-"/>
            </a:pPr>
            <a:r>
              <a:rPr lang="fr-FR" sz="2400" dirty="0"/>
              <a:t>Possibilité que les experts rattrapent progressivement leur retard, grâce à leurs compétences générales de frappe, tandis que les novices pourraient montrer une progression plus régulière dès le début.</a:t>
            </a:r>
          </a:p>
          <a:p>
            <a:pPr>
              <a:buFontTx/>
              <a:buChar char="-"/>
            </a:pPr>
            <a:endParaRPr lang="fr-FR" sz="2400" dirty="0"/>
          </a:p>
        </p:txBody>
      </p:sp>
    </p:spTree>
    <p:extLst>
      <p:ext uri="{BB962C8B-B14F-4D97-AF65-F5344CB8AC3E}">
        <p14:creationId xmlns:p14="http://schemas.microsoft.com/office/powerpoint/2010/main" val="208129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A51A2-9D46-4F47-8166-F5742B045526}"/>
              </a:ext>
            </a:extLst>
          </p:cNvPr>
          <p:cNvSpPr>
            <a:spLocks noGrp="1"/>
          </p:cNvSpPr>
          <p:nvPr>
            <p:ph type="title"/>
          </p:nvPr>
        </p:nvSpPr>
        <p:spPr>
          <a:xfrm>
            <a:off x="395514" y="0"/>
            <a:ext cx="10515600" cy="1325563"/>
          </a:xfrm>
        </p:spPr>
        <p:txBody>
          <a:bodyPr/>
          <a:lstStyle/>
          <a:p>
            <a:r>
              <a:rPr lang="fr-FR" b="1" dirty="0"/>
              <a:t>Méthodologie : </a:t>
            </a:r>
          </a:p>
        </p:txBody>
      </p:sp>
      <p:sp>
        <p:nvSpPr>
          <p:cNvPr id="3" name="Content Placeholder 2">
            <a:extLst>
              <a:ext uri="{FF2B5EF4-FFF2-40B4-BE49-F238E27FC236}">
                <a16:creationId xmlns:a16="http://schemas.microsoft.com/office/drawing/2014/main" id="{4CB3998A-8D0B-6A40-90F2-475A92296788}"/>
              </a:ext>
            </a:extLst>
          </p:cNvPr>
          <p:cNvSpPr>
            <a:spLocks noGrp="1"/>
          </p:cNvSpPr>
          <p:nvPr>
            <p:ph idx="1"/>
          </p:nvPr>
        </p:nvSpPr>
        <p:spPr>
          <a:xfrm>
            <a:off x="395514" y="1074078"/>
            <a:ext cx="10515600" cy="5583918"/>
          </a:xfrm>
        </p:spPr>
        <p:txBody>
          <a:bodyPr>
            <a:noAutofit/>
          </a:bodyPr>
          <a:lstStyle/>
          <a:p>
            <a:pPr marL="0" indent="0">
              <a:buNone/>
            </a:pPr>
            <a:r>
              <a:rPr lang="fr-FR" sz="1100" b="1" dirty="0"/>
              <a:t>Participants: </a:t>
            </a:r>
          </a:p>
          <a:p>
            <a:pPr marL="0" indent="0">
              <a:buNone/>
            </a:pPr>
            <a:r>
              <a:rPr lang="fr-FR" sz="1100" dirty="0"/>
              <a:t>L’étude inclura 50 participants, 25 experts et 25 novices. Tous les participants devront avoir une vision normale ou corrigée et ne pas présenter de troubles moteurs susceptibles d’affecter la frappe au clavier. </a:t>
            </a:r>
          </a:p>
          <a:p>
            <a:pPr marL="0" indent="0">
              <a:buNone/>
            </a:pPr>
            <a:r>
              <a:rPr lang="fr-FR" sz="1100" b="1" dirty="0"/>
              <a:t>Matériel </a:t>
            </a:r>
          </a:p>
          <a:p>
            <a:pPr marL="0" indent="0">
              <a:buNone/>
            </a:pPr>
            <a:r>
              <a:rPr lang="fr-FR" sz="1100" dirty="0"/>
              <a:t>L’expérience sera réalisée sur ordinateur, à l’aide d’un clavier QWERTY standard et du logiciel </a:t>
            </a:r>
            <a:r>
              <a:rPr lang="fr-FR" sz="1100" dirty="0" err="1"/>
              <a:t>OpenSesame</a:t>
            </a:r>
            <a:r>
              <a:rPr lang="fr-FR" sz="1100" dirty="0"/>
              <a:t>, qui permettra de présenter les stimuli et d’enregistrer les réponses des participants. Le remappage consistera à passer d’une configuration AZERTY à une configuration QWERTY.</a:t>
            </a:r>
          </a:p>
          <a:p>
            <a:pPr marL="0" indent="0">
              <a:buNone/>
            </a:pPr>
            <a:r>
              <a:rPr lang="fr-FR" sz="1100" b="1" dirty="0"/>
              <a:t>Variables dépendantes</a:t>
            </a:r>
            <a:endParaRPr lang="fr-FR" sz="1100" dirty="0"/>
          </a:p>
          <a:p>
            <a:r>
              <a:rPr lang="fr-FR" sz="1100" b="1" dirty="0"/>
              <a:t>Vitesse de frappe</a:t>
            </a:r>
            <a:r>
              <a:rPr lang="fr-FR" sz="1100" dirty="0"/>
              <a:t>, mesurée par le temps nécessaire pour saisir la phrase ou le texte.</a:t>
            </a:r>
          </a:p>
          <a:p>
            <a:r>
              <a:rPr lang="fr-FR" sz="1100" b="1" dirty="0"/>
              <a:t>Nombre d’erreurs</a:t>
            </a:r>
            <a:r>
              <a:rPr lang="fr-FR" sz="1100" dirty="0"/>
              <a:t>, correspondant aux divergences entre le texte présenté et le texte saisi.</a:t>
            </a:r>
          </a:p>
          <a:p>
            <a:r>
              <a:rPr lang="fr-FR" sz="1100" b="1" dirty="0"/>
              <a:t>Précision</a:t>
            </a:r>
            <a:r>
              <a:rPr lang="fr-FR" sz="1100" dirty="0"/>
              <a:t>, calculée comme le pourcentage de caractères correctement saisis.</a:t>
            </a:r>
          </a:p>
          <a:p>
            <a:endParaRPr lang="fr-FR" sz="1100" dirty="0"/>
          </a:p>
          <a:p>
            <a:pPr marL="0" indent="0">
              <a:buNone/>
            </a:pPr>
            <a:r>
              <a:rPr lang="fr-FR" sz="1100" b="1" dirty="0"/>
              <a:t>Procédure</a:t>
            </a:r>
          </a:p>
          <a:p>
            <a:pPr marL="0" indent="0">
              <a:buNone/>
            </a:pPr>
            <a:r>
              <a:rPr lang="fr-FR" sz="1100" dirty="0"/>
              <a:t>Avant l’expérience, afin de constituer les groupes d’experts et de novices, un test de frappe sur le site 10fastfingers.com avec un clavier AZERTY sera réalisé. Les participants atteignant une vitesse supérieure ou égale à 60 mots par minute seront classés dans le groupe des experts, tandis que ceux ayant une vitesse inférieure à 20 mots par minute seront dans le groupe des novices. Le test de frappe sera également réalisé sur un clavier QWERTY afin de s’assurer que chaque participant a une vitesse inférieure à 20 mots par minute.</a:t>
            </a:r>
          </a:p>
          <a:p>
            <a:r>
              <a:rPr lang="fr-FR" sz="1100" dirty="0"/>
              <a:t>L’expérience se déroulera en trois sessions distinctes, chacune séparée par un intervalle de 24 heures sur des ordinateurs avec un clavier QWERTY.</a:t>
            </a:r>
          </a:p>
          <a:p>
            <a:r>
              <a:rPr lang="fr-FR" sz="1100" b="1" dirty="0"/>
              <a:t>Phase initiale : </a:t>
            </a:r>
            <a:r>
              <a:rPr lang="fr-FR" sz="1100" dirty="0"/>
              <a:t>Au début de la première session, les participants recevront les instructions expliquant qu’ils devront taper des phrases affichées à l’écran en utilisant un clavier dont la configuration a été modifiée (AZERTY → QWERTY). Ils seront encouragés à taper le plus rapidement et le plus précisément possible.</a:t>
            </a:r>
          </a:p>
          <a:p>
            <a:r>
              <a:rPr lang="fr-FR" sz="1100" b="1" dirty="0"/>
              <a:t>Phase d’entraînement : </a:t>
            </a:r>
            <a:r>
              <a:rPr lang="fr-FR" sz="1100" dirty="0"/>
              <a:t>Une courte phase d’entraînement permettra aux participants de se familiariser avec le clavier remappé. Durant cette phase, ils devront taper deux à trois phrases simples, qui ne seront pas incluses dans l’analyse </a:t>
            </a:r>
          </a:p>
          <a:p>
            <a:r>
              <a:rPr lang="fr-FR" sz="1100" b="1" dirty="0"/>
              <a:t>Phase expérimentale : </a:t>
            </a:r>
            <a:r>
              <a:rPr lang="fr-FR" sz="1100" dirty="0"/>
              <a:t>Lors de chaque session, les participants devront taper sept stimuli textuels : cinq phrases courtes, deux textes légèrement plus longs (les phrases seront présentées une par une à l’écran, et le participant devra les recopier au clavier. L’ordre de présentation des stimuli sera randomisé afin de limiter les effets d’ordre.</a:t>
            </a:r>
          </a:p>
          <a:p>
            <a:r>
              <a:rPr lang="fr-FR" sz="1100" b="1" dirty="0"/>
              <a:t>Fin de session </a:t>
            </a:r>
            <a:r>
              <a:rPr lang="fr-FR" sz="1100" dirty="0"/>
              <a:t>: Une fois les phrases saisies, la session se termine. Les participants reviendront 24 heures plus tard pour réaliser la session suivante, selon le même protocole.</a:t>
            </a:r>
          </a:p>
          <a:p>
            <a:pPr marL="0" indent="0">
              <a:buNone/>
            </a:pPr>
            <a:endParaRPr lang="fr-FR" sz="1100" dirty="0"/>
          </a:p>
        </p:txBody>
      </p:sp>
    </p:spTree>
    <p:extLst>
      <p:ext uri="{BB962C8B-B14F-4D97-AF65-F5344CB8AC3E}">
        <p14:creationId xmlns:p14="http://schemas.microsoft.com/office/powerpoint/2010/main" val="2371611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865A-8929-134C-B2A6-6C04EA93BC96}"/>
              </a:ext>
            </a:extLst>
          </p:cNvPr>
          <p:cNvSpPr>
            <a:spLocks noGrp="1"/>
          </p:cNvSpPr>
          <p:nvPr>
            <p:ph type="title"/>
          </p:nvPr>
        </p:nvSpPr>
        <p:spPr>
          <a:xfrm>
            <a:off x="439058" y="108858"/>
            <a:ext cx="9781267" cy="948418"/>
          </a:xfrm>
        </p:spPr>
        <p:txBody>
          <a:bodyPr/>
          <a:lstStyle/>
          <a:p>
            <a:r>
              <a:rPr lang="fr-FR" b="1" dirty="0"/>
              <a:t>Echéancier</a:t>
            </a:r>
          </a:p>
        </p:txBody>
      </p:sp>
      <p:sp>
        <p:nvSpPr>
          <p:cNvPr id="3" name="Content Placeholder 2">
            <a:extLst>
              <a:ext uri="{FF2B5EF4-FFF2-40B4-BE49-F238E27FC236}">
                <a16:creationId xmlns:a16="http://schemas.microsoft.com/office/drawing/2014/main" id="{05FA0C7D-F98F-8E4D-B9C9-153386B8B0E9}"/>
              </a:ext>
            </a:extLst>
          </p:cNvPr>
          <p:cNvSpPr>
            <a:spLocks noGrp="1"/>
          </p:cNvSpPr>
          <p:nvPr>
            <p:ph idx="1"/>
          </p:nvPr>
        </p:nvSpPr>
        <p:spPr>
          <a:xfrm>
            <a:off x="439058" y="1057276"/>
            <a:ext cx="11545661" cy="5575528"/>
          </a:xfrm>
        </p:spPr>
        <p:txBody>
          <a:bodyPr>
            <a:normAutofit fontScale="25000" lnSpcReduction="20000"/>
          </a:bodyPr>
          <a:lstStyle/>
          <a:p>
            <a:pPr marL="0" indent="0">
              <a:lnSpc>
                <a:spcPct val="70000"/>
              </a:lnSpc>
              <a:buNone/>
            </a:pPr>
            <a:r>
              <a:rPr lang="fr-FR" sz="4400" b="1" dirty="0"/>
              <a:t>Mois 1/2 : Préparation du projet : </a:t>
            </a:r>
          </a:p>
          <a:p>
            <a:pPr marL="0" indent="0">
              <a:lnSpc>
                <a:spcPct val="70000"/>
              </a:lnSpc>
              <a:buNone/>
            </a:pPr>
            <a:r>
              <a:rPr lang="fr-FR" sz="4400" dirty="0"/>
              <a:t>- Création de l’expérience, état d’art, rédaction du protocole expérimental détaillé, définition des variables et des conditions expérimentales, création d’hypothèses …</a:t>
            </a:r>
          </a:p>
          <a:p>
            <a:pPr marL="0" indent="0">
              <a:lnSpc>
                <a:spcPct val="70000"/>
              </a:lnSpc>
              <a:buNone/>
            </a:pPr>
            <a:r>
              <a:rPr lang="fr-FR" sz="4400" b="1" dirty="0"/>
              <a:t>Mois 3 : Conception du matériel : </a:t>
            </a:r>
          </a:p>
          <a:p>
            <a:pPr>
              <a:lnSpc>
                <a:spcPct val="70000"/>
              </a:lnSpc>
              <a:buFontTx/>
              <a:buChar char="-"/>
            </a:pPr>
            <a:r>
              <a:rPr lang="fr-FR" sz="4400" dirty="0"/>
              <a:t>Programmation de l’expérience sur </a:t>
            </a:r>
            <a:r>
              <a:rPr lang="fr-FR" sz="4400" dirty="0" err="1"/>
              <a:t>OpenSesame</a:t>
            </a:r>
            <a:r>
              <a:rPr lang="fr-FR" sz="4400" dirty="0"/>
              <a:t> </a:t>
            </a:r>
          </a:p>
          <a:p>
            <a:pPr>
              <a:lnSpc>
                <a:spcPct val="70000"/>
              </a:lnSpc>
              <a:buFontTx/>
              <a:buChar char="-"/>
            </a:pPr>
            <a:r>
              <a:rPr lang="fr-FR" sz="4400" dirty="0"/>
              <a:t>Création des stimuli (phrases et textes)</a:t>
            </a:r>
          </a:p>
          <a:p>
            <a:pPr>
              <a:lnSpc>
                <a:spcPct val="70000"/>
              </a:lnSpc>
              <a:buFontTx/>
              <a:buChar char="-"/>
            </a:pPr>
            <a:r>
              <a:rPr lang="fr-FR" sz="4400" dirty="0"/>
              <a:t>Mise en place du remappage AZERTY → QWERTY </a:t>
            </a:r>
          </a:p>
          <a:p>
            <a:pPr marL="0" indent="0">
              <a:lnSpc>
                <a:spcPct val="70000"/>
              </a:lnSpc>
              <a:buNone/>
            </a:pPr>
            <a:r>
              <a:rPr lang="fr-FR" sz="4400" b="1" dirty="0"/>
              <a:t>Mois 4 : Pré-test : </a:t>
            </a:r>
          </a:p>
          <a:p>
            <a:pPr>
              <a:lnSpc>
                <a:spcPct val="70000"/>
              </a:lnSpc>
              <a:buFontTx/>
              <a:buChar char="-"/>
            </a:pPr>
            <a:r>
              <a:rPr lang="fr-FR" sz="4400" dirty="0"/>
              <a:t>Test de l’expérience sur un petit échantillon (3–5 personnes) </a:t>
            </a:r>
          </a:p>
          <a:p>
            <a:pPr>
              <a:lnSpc>
                <a:spcPct val="70000"/>
              </a:lnSpc>
              <a:buFontTx/>
              <a:buChar char="-"/>
            </a:pPr>
            <a:r>
              <a:rPr lang="fr-FR" sz="4400" dirty="0"/>
              <a:t> Ajustement du protocole (durée, difficulté, consignes) </a:t>
            </a:r>
          </a:p>
          <a:p>
            <a:pPr marL="0" indent="0">
              <a:lnSpc>
                <a:spcPct val="70000"/>
              </a:lnSpc>
              <a:buNone/>
            </a:pPr>
            <a:r>
              <a:rPr lang="fr-FR" sz="4400" b="1" dirty="0"/>
              <a:t>Mois 5/6 : Recrutement des participants : </a:t>
            </a:r>
          </a:p>
          <a:p>
            <a:pPr>
              <a:lnSpc>
                <a:spcPct val="70000"/>
              </a:lnSpc>
              <a:buFontTx/>
              <a:buChar char="-"/>
            </a:pPr>
            <a:r>
              <a:rPr lang="fr-FR" sz="4400" dirty="0"/>
              <a:t>Diffusion d’annonces (étudiants, réseaux, etc.)</a:t>
            </a:r>
          </a:p>
          <a:p>
            <a:pPr>
              <a:lnSpc>
                <a:spcPct val="70000"/>
              </a:lnSpc>
              <a:buFontTx/>
              <a:buChar char="-"/>
            </a:pPr>
            <a:r>
              <a:rPr lang="fr-FR" sz="4400" dirty="0"/>
              <a:t>Passation du test de frappe (10fastfingers) et répartition en groupes experts (≥ 60 MPM) et novices (&lt; 20 MPM) </a:t>
            </a:r>
          </a:p>
          <a:p>
            <a:pPr marL="0" indent="0">
              <a:lnSpc>
                <a:spcPct val="70000"/>
              </a:lnSpc>
              <a:buNone/>
            </a:pPr>
            <a:r>
              <a:rPr lang="fr-FR" sz="4400" b="1" dirty="0"/>
              <a:t>Mois 7/9 : Expérience : </a:t>
            </a:r>
          </a:p>
          <a:p>
            <a:pPr>
              <a:lnSpc>
                <a:spcPct val="70000"/>
              </a:lnSpc>
              <a:buFontTx/>
              <a:buChar char="-"/>
            </a:pPr>
            <a:r>
              <a:rPr lang="fr-FR" sz="4400" dirty="0"/>
              <a:t>Organisation de l’expérience </a:t>
            </a:r>
          </a:p>
          <a:p>
            <a:pPr>
              <a:lnSpc>
                <a:spcPct val="70000"/>
              </a:lnSpc>
              <a:buFontTx/>
              <a:buChar char="-"/>
            </a:pPr>
            <a:r>
              <a:rPr lang="fr-FR" sz="4400" dirty="0"/>
              <a:t>Passation des 3 sessions (à 24h d’intervalle) pour chaque participant </a:t>
            </a:r>
          </a:p>
          <a:p>
            <a:pPr>
              <a:lnSpc>
                <a:spcPct val="70000"/>
              </a:lnSpc>
              <a:buFontTx/>
              <a:buChar char="-"/>
            </a:pPr>
            <a:r>
              <a:rPr lang="fr-FR" sz="4400" dirty="0"/>
              <a:t>Vérification et sauvegarde des données </a:t>
            </a:r>
          </a:p>
          <a:p>
            <a:pPr marL="0" indent="0">
              <a:lnSpc>
                <a:spcPct val="70000"/>
              </a:lnSpc>
              <a:buNone/>
            </a:pPr>
            <a:r>
              <a:rPr lang="fr-FR" sz="4400" b="1" dirty="0"/>
              <a:t>Mois 10 : Nettoyage des données : </a:t>
            </a:r>
          </a:p>
          <a:p>
            <a:pPr>
              <a:lnSpc>
                <a:spcPct val="70000"/>
              </a:lnSpc>
              <a:buFontTx/>
              <a:buChar char="-"/>
            </a:pPr>
            <a:r>
              <a:rPr lang="fr-FR" sz="4400" dirty="0"/>
              <a:t>Tri des données (erreurs, données aberrantes…. )</a:t>
            </a:r>
          </a:p>
          <a:p>
            <a:pPr>
              <a:lnSpc>
                <a:spcPct val="70000"/>
              </a:lnSpc>
              <a:buFontTx/>
              <a:buChar char="-"/>
            </a:pPr>
            <a:r>
              <a:rPr lang="fr-FR" sz="4400" dirty="0"/>
              <a:t>Calcul des variables (temps de réaction, précision, etc.) </a:t>
            </a:r>
          </a:p>
          <a:p>
            <a:pPr marL="0" indent="0">
              <a:lnSpc>
                <a:spcPct val="70000"/>
              </a:lnSpc>
              <a:buNone/>
            </a:pPr>
            <a:r>
              <a:rPr lang="fr-FR" sz="4400" b="1" dirty="0"/>
              <a:t>Mois 11 : Analyse statistiques : </a:t>
            </a:r>
          </a:p>
          <a:p>
            <a:pPr marL="0" indent="0">
              <a:lnSpc>
                <a:spcPct val="70000"/>
              </a:lnSpc>
              <a:buNone/>
            </a:pPr>
            <a:r>
              <a:rPr lang="fr-FR" sz="4400" dirty="0"/>
              <a:t>- Comparaison experts vs novices, évolution</a:t>
            </a:r>
          </a:p>
          <a:p>
            <a:pPr marL="0" indent="0">
              <a:lnSpc>
                <a:spcPct val="70000"/>
              </a:lnSpc>
              <a:buNone/>
            </a:pPr>
            <a:r>
              <a:rPr lang="fr-FR" sz="4400" dirty="0"/>
              <a:t>- Interprétation des résultats par rapport aux hypothèses </a:t>
            </a:r>
          </a:p>
          <a:p>
            <a:pPr marL="0" indent="0">
              <a:lnSpc>
                <a:spcPct val="70000"/>
              </a:lnSpc>
              <a:buNone/>
            </a:pPr>
            <a:r>
              <a:rPr lang="fr-FR" sz="4400" b="1" dirty="0"/>
              <a:t>Mois 12 : Rédaction finale : </a:t>
            </a:r>
          </a:p>
          <a:p>
            <a:pPr>
              <a:lnSpc>
                <a:spcPct val="70000"/>
              </a:lnSpc>
              <a:buFontTx/>
              <a:buChar char="-"/>
            </a:pPr>
            <a:r>
              <a:rPr lang="fr-FR" sz="4400" dirty="0"/>
              <a:t>Rédaction du rapport </a:t>
            </a:r>
          </a:p>
          <a:p>
            <a:pPr>
              <a:lnSpc>
                <a:spcPct val="70000"/>
              </a:lnSpc>
              <a:buFontTx/>
              <a:buChar char="-"/>
            </a:pPr>
            <a:r>
              <a:rPr lang="fr-FR" sz="4400" dirty="0"/>
              <a:t>Discussion des résultats et limites </a:t>
            </a:r>
          </a:p>
          <a:p>
            <a:pPr>
              <a:lnSpc>
                <a:spcPct val="70000"/>
              </a:lnSpc>
              <a:buFontTx/>
              <a:buChar char="-"/>
            </a:pPr>
            <a:r>
              <a:rPr lang="fr-FR" sz="4400" dirty="0"/>
              <a:t>Finalisation et préparation de la soutenance</a:t>
            </a:r>
          </a:p>
          <a:p>
            <a:endParaRPr lang="fr-FR" dirty="0"/>
          </a:p>
        </p:txBody>
      </p:sp>
    </p:spTree>
    <p:extLst>
      <p:ext uri="{BB962C8B-B14F-4D97-AF65-F5344CB8AC3E}">
        <p14:creationId xmlns:p14="http://schemas.microsoft.com/office/powerpoint/2010/main" val="174585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8206</TotalTime>
  <Words>1181</Words>
  <Application>Microsoft Office PowerPoint</Application>
  <PresentationFormat>Grand écran</PresentationFormat>
  <Paragraphs>67</Paragraphs>
  <Slides>6</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vt:i4>
      </vt:variant>
    </vt:vector>
  </HeadingPairs>
  <TitlesOfParts>
    <vt:vector size="10" baseType="lpstr">
      <vt:lpstr>Arial</vt:lpstr>
      <vt:lpstr>Calibri</vt:lpstr>
      <vt:lpstr>Calibri Light</vt:lpstr>
      <vt:lpstr>Office Theme</vt:lpstr>
      <vt:lpstr>Fiche Projet  </vt:lpstr>
      <vt:lpstr>Contextualisation et problématisation :</vt:lpstr>
      <vt:lpstr>Etat de l’art (5 références) :</vt:lpstr>
      <vt:lpstr>Objectif du travail :</vt:lpstr>
      <vt:lpstr>Méthodologie : </vt:lpstr>
      <vt:lpstr>Echéancier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Fiche Projet</dc:title>
  <dc:creator>Lionel Brunel</dc:creator>
  <cp:lastModifiedBy>Melissa Boccaccio</cp:lastModifiedBy>
  <cp:revision>18</cp:revision>
  <dcterms:created xsi:type="dcterms:W3CDTF">2024-02-12T13:11:29Z</dcterms:created>
  <dcterms:modified xsi:type="dcterms:W3CDTF">2026-04-10T23:30:27Z</dcterms:modified>
</cp:coreProperties>
</file>